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3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4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18-24岁</c:v>
                  </c:pt>
                  <c:pt idx="1">
                    <c:v>25-29岁</c:v>
                  </c:pt>
                  <c:pt idx="2">
                    <c:v>30-39岁</c:v>
                  </c:pt>
                  <c:pt idx="3">
                    <c:v>40岁+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35</c:v>
                </c:pt>
                <c:pt idx="2">
                  <c:v>45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企业白领</c:v>
                  </c:pt>
                  <c:pt idx="1">
                    <c:v>IT开发</c:v>
                  </c:pt>
                  <c:pt idx="2">
                    <c:v>产品经理</c:v>
                  </c:pt>
                  <c:pt idx="3">
                    <c:v>内容创作</c:v>
                  </c:pt>
                  <c:pt idx="4">
                    <c:v>学生</c:v>
                  </c:pt>
                  <c:pt idx="5">
                    <c:v>教育培训</c:v>
                  </c:pt>
                  <c:pt idx="6">
                    <c:v>企业管理者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</c:v>
                </c:pt>
                <c:pt idx="1">
                  <c:v>22</c:v>
                </c:pt>
                <c:pt idx="2">
                  <c:v>20</c:v>
                </c:pt>
                <c:pt idx="3">
                  <c:v>11</c:v>
                </c:pt>
                <c:pt idx="4">
                  <c:v>10</c:v>
                </c:pt>
                <c:pt idx="5">
                  <c:v>4</c:v>
                </c:pt>
                <c:pt idx="6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社交媒体/内容平台</c:v>
                  </c:pt>
                  <c:pt idx="1">
                    <c:v>同事/朋友推荐</c:v>
                  </c:pt>
                  <c:pt idx="2">
                    <c:v>开源社区</c:v>
                  </c:pt>
                  <c:pt idx="3">
                    <c:v>公司统一要求</c:v>
                  </c:pt>
                  <c:pt idx="4">
                    <c:v>产品官方发布</c:v>
                  </c:pt>
                  <c:pt idx="5">
                    <c:v>媒体报道</c:v>
                  </c:pt>
                  <c:pt idx="6">
                    <c:v>搜索引擎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</c:v>
                </c:pt>
                <c:pt idx="1">
                  <c:v>23</c:v>
                </c:pt>
                <c:pt idx="2">
                  <c:v>15</c:v>
                </c:pt>
                <c:pt idx="3">
                  <c:v>15</c:v>
                </c:pt>
                <c:pt idx="4">
                  <c:v>8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工作提效</c:v>
                  </c:pt>
                  <c:pt idx="1">
                    <c:v>减少重复性任务</c:v>
                  </c:pt>
                  <c:pt idx="2">
                    <c:v>获取专业知识</c:v>
                  </c:pt>
                  <c:pt idx="3">
                    <c:v>激发灵感</c:v>
                  </c:pt>
                  <c:pt idx="4">
                    <c:v>完成多工具任务</c:v>
                  </c:pt>
                  <c:pt idx="5">
                    <c:v>追踪任务结果</c:v>
                  </c:pt>
                  <c:pt idx="6">
                    <c:v>协同办公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51</c:v>
                </c:pt>
                <c:pt idx="1">
                  <c:v>41</c:v>
                </c:pt>
                <c:pt idx="2">
                  <c:v>39</c:v>
                </c:pt>
                <c:pt idx="3">
                  <c:v>34</c:v>
                </c:pt>
                <c:pt idx="4">
                  <c:v>28</c:v>
                </c:pt>
                <c:pt idx="5">
                  <c:v>14</c:v>
                </c:pt>
                <c:pt idx="6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网页端使用</c:v>
                  </c:pt>
                  <c:pt idx="1">
                    <c:v>桌面端独立使用</c:v>
                  </c:pt>
                  <c:pt idx="2">
                    <c:v>办公软件插件</c:v>
                  </c:pt>
                  <c:pt idx="3">
                    <c:v>自行部署框架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</c:v>
                </c:pt>
                <c:pt idx="1">
                  <c:v>29</c:v>
                </c:pt>
                <c:pt idx="2">
                  <c:v>27</c:v>
                </c:pt>
                <c:pt idx="3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每天使用</c:v>
                  </c:pt>
                  <c:pt idx="1">
                    <c:v>每周3-4次</c:v>
                  </c:pt>
                  <c:pt idx="2">
                    <c:v>每周1-2次</c:v>
                  </c:pt>
                  <c:pt idx="3">
                    <c:v>每周几次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</c:v>
                </c:pt>
                <c:pt idx="1">
                  <c:v>46</c:v>
                </c:pt>
                <c:pt idx="2">
                  <c:v>22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信息检索</c:v>
                  </c:pt>
                  <c:pt idx="1">
                    <c:v>方案策划</c:v>
                  </c:pt>
                  <c:pt idx="2">
                    <c:v>文档处理</c:v>
                  </c:pt>
                  <c:pt idx="3">
                    <c:v>数据分析</c:v>
                  </c:pt>
                  <c:pt idx="4">
                    <c:v>内容生成</c:v>
                  </c:pt>
                  <c:pt idx="5">
                    <c:v>日程管理</c:v>
                  </c:pt>
                  <c:pt idx="6">
                    <c:v>作业/论文</c:v>
                  </c:pt>
                  <c:pt idx="7">
                    <c:v>编程辅助</c:v>
                  </c:pt>
                  <c:pt idx="8">
                    <c:v>文件管理</c:v>
                  </c:pt>
                  <c:pt idx="9">
                    <c:v>项目管理</c:v>
                  </c:pt>
                  <c:pt idx="10">
                    <c:v>翻译</c:v>
                  </c:pt>
                  <c:pt idx="11">
                    <c:v>沟通/任务</c:v>
                  </c:pt>
                  <c:pt idx="12">
                    <c:v>客服/销售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52</c:v>
                </c:pt>
                <c:pt idx="1">
                  <c:v>43</c:v>
                </c:pt>
                <c:pt idx="2">
                  <c:v>43</c:v>
                </c:pt>
                <c:pt idx="3">
                  <c:v>36</c:v>
                </c:pt>
                <c:pt idx="4">
                  <c:v>34</c:v>
                </c:pt>
                <c:pt idx="5">
                  <c:v>32</c:v>
                </c:pt>
                <c:pt idx="6">
                  <c:v>27</c:v>
                </c:pt>
                <c:pt idx="7">
                  <c:v>24</c:v>
                </c:pt>
                <c:pt idx="8">
                  <c:v>24</c:v>
                </c:pt>
                <c:pt idx="9">
                  <c:v>14</c:v>
                </c:pt>
                <c:pt idx="10">
                  <c:v>10</c:v>
                </c:pt>
                <c:pt idx="11">
                  <c:v>10</c:v>
                </c:pt>
                <c:pt idx="1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CodeBuddy</c:v>
                  </c:pt>
                  <c:pt idx="1">
                    <c:v>QClaw</c:v>
                  </c:pt>
                  <c:pt idx="2">
                    <c:v>悟空</c:v>
                  </c:pt>
                  <c:pt idx="3">
                    <c:v>Cursor</c:v>
                  </c:pt>
                  <c:pt idx="4">
                    <c:v>WorkBuddy</c:v>
                  </c:pt>
                  <c:pt idx="5">
                    <c:v>Codex</c:v>
                  </c:pt>
                  <c:pt idx="6">
                    <c:v>LobeClawAI</c:v>
                  </c:pt>
                  <c:pt idx="7">
                    <c:v>QoderWork</c:v>
                  </c:pt>
                  <c:pt idx="8">
                    <c:v>Trae.cn</c:v>
                  </c:pt>
                  <c:pt idx="9">
                    <c:v>AutoClaw</c:v>
                  </c:pt>
                  <c:pt idx="10">
                    <c:v>Manus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33</c:v>
                </c:pt>
                <c:pt idx="1">
                  <c:v>31</c:v>
                </c:pt>
                <c:pt idx="2">
                  <c:v>30</c:v>
                </c:pt>
                <c:pt idx="3">
                  <c:v>28</c:v>
                </c:pt>
                <c:pt idx="4">
                  <c:v>28</c:v>
                </c:pt>
                <c:pt idx="5">
                  <c:v>22</c:v>
                </c:pt>
                <c:pt idx="6">
                  <c:v>19</c:v>
                </c:pt>
                <c:pt idx="7">
                  <c:v>19</c:v>
                </c:pt>
                <c:pt idx="8">
                  <c:v>15</c:v>
                </c:pt>
                <c:pt idx="9">
                  <c:v>15</c:v>
                </c:pt>
                <c:pt idx="10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Coze</c:v>
                  </c:pt>
                  <c:pt idx="1">
                    <c:v>KimiClaw</c:v>
                  </c:pt>
                  <c:pt idx="2">
                    <c:v>MaxClaw</c:v>
                  </c:pt>
                  <c:pt idx="3">
                    <c:v>ArkClaw</c:v>
                  </c:pt>
                  <c:pt idx="4">
                    <c:v>DuClaw</c:v>
                  </c:pt>
                  <c:pt idx="5">
                    <c:v>Copaw</c:v>
                  </c:pt>
                  <c:pt idx="6">
                    <c:v>HappyClaw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</c:v>
                </c:pt>
                <c:pt idx="1">
                  <c:v>39</c:v>
                </c:pt>
                <c:pt idx="2">
                  <c:v>38</c:v>
                </c:pt>
                <c:pt idx="3">
                  <c:v>28</c:v>
                </c:pt>
                <c:pt idx="4">
                  <c:v>21</c:v>
                </c:pt>
                <c:pt idx="5">
                  <c:v>18</c:v>
                </c:pt>
                <c:pt idx="6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OpenClaw</c:v>
                  </c:pt>
                  <c:pt idx="1">
                    <c:v>Hermes Agent</c:v>
                  </c:pt>
                  <c:pt idx="2">
                    <c:v>CrewClaw</c:v>
                  </c:pt>
                  <c:pt idx="3">
                    <c:v>WorkanyBot</c:v>
                  </c:pt>
                  <c:pt idx="4">
                    <c:v>HanoClaw</c:v>
                  </c:pt>
                  <c:pt idx="5">
                    <c:v>PicoClaw</c:v>
                  </c:pt>
                  <c:pt idx="6">
                    <c:v>ZeroClaw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89</c:v>
                </c:pt>
                <c:pt idx="1">
                  <c:v>18</c:v>
                </c:pt>
                <c:pt idx="2">
                  <c:v>16</c:v>
                </c:pt>
                <c:pt idx="3">
                  <c:v>13</c:v>
                </c:pt>
                <c:pt idx="4">
                  <c:v>9</c:v>
                </c:pt>
                <c:pt idx="5">
                  <c:v>7</c:v>
                </c:pt>
                <c:pt idx="6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需求理解偏差</c:v>
                  </c:pt>
                  <c:pt idx="1">
                    <c:v>产出质量不及预期</c:v>
                  </c:pt>
                  <c:pt idx="2">
                    <c:v>响应速度慢</c:v>
                  </c:pt>
                  <c:pt idx="3">
                    <c:v>长文本/大文件处理受限</c:v>
                  </c:pt>
                  <c:pt idx="4">
                    <c:v>数据隐私安全担忧</c:v>
                  </c:pt>
                  <c:pt idx="5">
                    <c:v>任务执行中断</c:v>
                  </c:pt>
                  <c:pt idx="6">
                    <c:v>自主操作出错</c:v>
                  </c:pt>
                  <c:pt idx="7">
                    <c:v>过程缺乏透明度</c:v>
                  </c:pt>
                  <c:pt idx="8">
                    <c:v>使用门槛高</c:v>
                  </c:pt>
                  <c:pt idx="9">
                    <c:v>暂无明显问题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46</c:v>
                </c:pt>
                <c:pt idx="1">
                  <c:v>42</c:v>
                </c:pt>
                <c:pt idx="2">
                  <c:v>31</c:v>
                </c:pt>
                <c:pt idx="3">
                  <c:v>30</c:v>
                </c:pt>
                <c:pt idx="4">
                  <c:v>27</c:v>
                </c:pt>
                <c:pt idx="5">
                  <c:v>26</c:v>
                </c:pt>
                <c:pt idx="6">
                  <c:v>16</c:v>
                </c:pt>
                <c:pt idx="7">
                  <c:v>13</c:v>
                </c:pt>
                <c:pt idx="8">
                  <c:v>9</c:v>
                </c:pt>
                <c:pt idx="9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WorkBuddy</c:v>
                  </c:pt>
                  <c:pt idx="1">
                    <c:v>CodeBuddy</c:v>
                  </c:pt>
                  <c:pt idx="2">
                    <c:v>Cursor</c:v>
                  </c:pt>
                  <c:pt idx="3">
                    <c:v>QClaw</c:v>
                  </c:pt>
                  <c:pt idx="4">
                    <c:v>悟空</c:v>
                  </c:pt>
                  <c:pt idx="5">
                    <c:v>Codex</c:v>
                  </c:pt>
                  <c:pt idx="6">
                    <c:v>QoderWork</c:v>
                  </c:pt>
                  <c:pt idx="7">
                    <c:v>LobeClawAI</c:v>
                  </c:pt>
                  <c:pt idx="8">
                    <c:v>AutoClaw</c:v>
                  </c:pt>
                  <c:pt idx="9">
                    <c:v>Manus</c:v>
                  </c:pt>
                  <c:pt idx="10">
                    <c:v>Trae.cn</c:v>
                  </c:pt>
                  <c:pt idx="11">
                    <c:v>元气Bot</c:v>
                  </c:pt>
                  <c:pt idx="12">
                    <c:v>Loomy</c:v>
                  </c:pt>
                  <c:pt idx="13">
                    <c:v>Ajis</c:v>
                  </c:pt>
                  <c:pt idx="14">
                    <c:v>YiClaw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15</c:v>
                </c:pt>
                <c:pt idx="1">
                  <c:v>14</c:v>
                </c:pt>
                <c:pt idx="2">
                  <c:v>12</c:v>
                </c:pt>
                <c:pt idx="3">
                  <c:v>10</c:v>
                </c:pt>
                <c:pt idx="4">
                  <c:v>8</c:v>
                </c:pt>
                <c:pt idx="5">
                  <c:v>8</c:v>
                </c:pt>
                <c:pt idx="6">
                  <c:v>6</c:v>
                </c:pt>
                <c:pt idx="7">
                  <c:v>6</c:v>
                </c:pt>
                <c:pt idx="8">
                  <c:v>5</c:v>
                </c:pt>
                <c:pt idx="9">
                  <c:v>4</c:v>
                </c:pt>
                <c:pt idx="10">
                  <c:v>4</c:v>
                </c:pt>
                <c:pt idx="11">
                  <c:v>3</c:v>
                </c:pt>
                <c:pt idx="12">
                  <c:v>2</c:v>
                </c:pt>
                <c:pt idx="13">
                  <c:v>1</c:v>
                </c:pt>
                <c:pt idx="1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WorkBuddy</c:v>
                  </c:pt>
                  <c:pt idx="1">
                    <c:v>Trae.cn</c:v>
                  </c:pt>
                  <c:pt idx="2">
                    <c:v>QClaw</c:v>
                  </c:pt>
                  <c:pt idx="3">
                    <c:v>QoderWork</c:v>
                  </c:pt>
                  <c:pt idx="4">
                    <c:v>CodeBuddy</c:v>
                  </c:pt>
                  <c:pt idx="5">
                    <c:v>AutoClaw</c:v>
                  </c:pt>
                  <c:pt idx="6">
                    <c:v>Core.on</c:v>
                  </c:pt>
                  <c:pt idx="7">
                    <c:v>悟空</c:v>
                  </c:pt>
                  <c:pt idx="8">
                    <c:v>LobsterAI</c:v>
                  </c:pt>
                  <c:pt idx="9">
                    <c:v>EasyClaw</c:v>
                  </c:pt>
                  <c:pt idx="10">
                    <c:v>MiniMax Agent</c:v>
                  </c:pt>
                  <c:pt idx="11">
                    <c:v>元气Bot</c:v>
                  </c:pt>
                  <c:pt idx="12">
                    <c:v>JVS Claw</c:v>
                  </c:pt>
                  <c:pt idx="13">
                    <c:v>Moli</c:v>
                  </c:pt>
                  <c:pt idx="14">
                    <c:v>Loomy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885</c:v>
                </c:pt>
                <c:pt idx="1">
                  <c:v>334</c:v>
                </c:pt>
                <c:pt idx="2">
                  <c:v>238</c:v>
                </c:pt>
                <c:pt idx="3">
                  <c:v>215</c:v>
                </c:pt>
                <c:pt idx="4">
                  <c:v>101</c:v>
                </c:pt>
                <c:pt idx="5">
                  <c:v>76</c:v>
                </c:pt>
                <c:pt idx="6">
                  <c:v>72</c:v>
                </c:pt>
                <c:pt idx="7">
                  <c:v>53</c:v>
                </c:pt>
                <c:pt idx="8">
                  <c:v>47</c:v>
                </c:pt>
                <c:pt idx="9">
                  <c:v>38</c:v>
                </c:pt>
                <c:pt idx="10">
                  <c:v>33</c:v>
                </c:pt>
                <c:pt idx="11">
                  <c:v>12</c:v>
                </c:pt>
                <c:pt idx="12">
                  <c:v>3</c:v>
                </c:pt>
                <c:pt idx="13">
                  <c:v>2</c:v>
                </c:pt>
                <c:pt idx="1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WorkBuddy</c:v>
                  </c:pt>
                  <c:pt idx="1">
                    <c:v>EasyClaw</c:v>
                  </c:pt>
                  <c:pt idx="2">
                    <c:v>CodeBuddy</c:v>
                  </c:pt>
                  <c:pt idx="3">
                    <c:v>AutoClaw</c:v>
                  </c:pt>
                  <c:pt idx="4">
                    <c:v>QClaw</c:v>
                  </c:pt>
                  <c:pt idx="5">
                    <c:v>QoderWork</c:v>
                  </c:pt>
                  <c:pt idx="6">
                    <c:v>Trae.cn</c:v>
                  </c:pt>
                  <c:pt idx="7">
                    <c:v>Core.on</c:v>
                  </c:pt>
                  <c:pt idx="8">
                    <c:v>LobsterAI</c:v>
                  </c:pt>
                  <c:pt idx="9">
                    <c:v>MiniMax Agent</c:v>
                  </c:pt>
                  <c:pt idx="10">
                    <c:v>元气Bot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831</c:v>
                </c:pt>
                <c:pt idx="1">
                  <c:v>449</c:v>
                </c:pt>
                <c:pt idx="2">
                  <c:v>360</c:v>
                </c:pt>
                <c:pt idx="3">
                  <c:v>226</c:v>
                </c:pt>
                <c:pt idx="4">
                  <c:v>123</c:v>
                </c:pt>
                <c:pt idx="5">
                  <c:v>82</c:v>
                </c:pt>
                <c:pt idx="6">
                  <c:v>76</c:v>
                </c:pt>
                <c:pt idx="7">
                  <c:v>69</c:v>
                </c:pt>
                <c:pt idx="8">
                  <c:v>68</c:v>
                </c:pt>
                <c:pt idx="9">
                  <c:v>22</c:v>
                </c:pt>
                <c:pt idx="10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中国办公智能体市场洞察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Workspace Agents: 从工具智能到行动智能的跃迁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基于易观分析 2026 年 5 月报告整理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8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报告结构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109728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37360" y="1719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市场概览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202996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定义、能力边界、产品分类、生态与挑战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7863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606040"/>
            <a:ext cx="109728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0604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737360" y="2770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用户洞察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308152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用户画像、使用习惯、场景、付费与瓶颈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7863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657600"/>
            <a:ext cx="109728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65760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737360" y="3822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桌面端爆发与未来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413308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桌面端价值、增长动能与未来竞争关键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市场概览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定义演进 · 产品分类 · 生态格局 · 核心挑战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办公智能体研究界定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AI 为核心，面向办公场景提供任务自动化、工作流编排与信息处理服务的智能体产品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核心定义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面向办公场景用户，提供任务自动化、工作流编排与信息处理服务的智能体产品；研究范围覆盖具备独立操作空间与执行能力的独立智能体，以及平台级智能体。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73152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3566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任务自主执行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3822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接受用户指令，自主拆解目标、规划步骤并调用工具完成多步骤任务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3566160"/>
            <a:ext cx="73152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3566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办公场景适配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3822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在文档处理、代码开发、数据分析、会议管理、日程安排等场景实现自动化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73152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多系统集成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44622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与操作系统、企业应用、第三方工具交互，实现跨系统数据同步与流程联动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4206240"/>
            <a:ext cx="73152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4828032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资源与生态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44622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具备丰富的技能库、插件生态或模型接入能力，支持第三方开发者扩展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能力边界：从“工具智能”向“行动智能”跃迁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年，多模态大模型在推理、规划与工具调用上实现突破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399032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990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大模型推理增强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6184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GPT、Claude、DeepSeek、Qwen 等在长程推理与多步规划上显著进步，可将复杂任务分解为可执行中间步骤。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112264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122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0391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工具调用标准化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主流大模型 API 支持结构化工具调用，使 Agent 能更精准、可靠地与文件系统、浏览器及外部 API 交互。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825496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254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7523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 GUI 理解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0449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能够“读懂”屏幕内容、识别图标与按钮含义、感知操作结果，桌面端全场景自动化成为可能。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8046720" cy="100584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164592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基准测试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测试内容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智能体表现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GAIA（通用助手任务）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面向真实工作场景的综合任务评估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74.5%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OSWorld（操作系统任务）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在虚拟操作系统环境中完成真实用户任务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66.3%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WebArena（网络任务）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在真实网站环境中完成多步骤网络任务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74.3%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办公智能化需求升级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智能体成为重构工作方式的关键变量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361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远程办公/混合办公成为常态，核心是解决远程协作与信息同步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95728" y="2331720"/>
            <a:ext cx="164592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21488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5361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651760" y="19659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从海量信息中提取所需，搜索与摘要需求上升，AI 辅助提升内容生成效率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53128" y="2331720"/>
            <a:ext cx="164592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1488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7720" y="141732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5361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09160" y="19659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流程自动化与智能化需求凸显，生成式 AI 嵌入工作流，AI 协助完成部分工作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10528" y="2331720"/>
            <a:ext cx="164592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1488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1417320"/>
            <a:ext cx="1874520" cy="1828800"/>
          </a:xfrm>
          <a:prstGeom prst="rect">
            <a:avLst/>
          </a:prstGeom>
          <a:solidFill>
            <a:srgbClr val="1E3A8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15361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规划与执行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66560" y="19659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需求进一步向具备任务自主规划、理解目标并拆解任务、多工具调用与协同演进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企业管理者对 Agent 在团队管理中应用的预期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8046720" cy="1005840"/>
        </p:xfrm>
        <a:graphic>
          <a:graphicData uri="http://schemas.openxmlformats.org/drawingml/2006/table">
            <a:tbl>
              <a:tblPr/>
              <a:tblGrid>
                <a:gridCol w="6400800"/>
                <a:gridCol w="16459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企业管理者对 Agent 的预期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构建多智能体系统以自动化复杂任务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训练智能体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管理智能体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 AI 重新设计业务流程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办公智能体平台产品的主要分类与特征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市场已形成三条相对清晰的产品路线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2606040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813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原生办公智能体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" y="2011680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目标驱动，实现任务闭环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2331720"/>
            <a:ext cx="23865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从“任务闭环”出发设计产品，让 AI 替代用户完成完整工作流，适合跨应用、多步骤、有明确交付物的复杂任务。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3566160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典型产品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" y="3794760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Manus、Cursor、Claude Code、Codex、WorkBuddy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17320"/>
            <a:ext cx="260604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4813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通用对话智能体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01568" y="2011680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对话驱动，知识获取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2331720"/>
            <a:ext cx="23865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核心价值在于降低信息获取，适合知识问答、内容草稿生成、创意发散、学习与研究辅助等以信息获取为核心的任务。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3566160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典型产品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1568" y="3794760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豆包、ChatGPT、Kimi、Claude、Gemini、Grok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14173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417320"/>
            <a:ext cx="2606040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14813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办公软件内嵌智能体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90488" y="2011680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场景触发，即时辅助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90488" y="2331720"/>
            <a:ext cx="23865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从“现有工作流优化”出发，在不改变用户习惯的前提下提供即时辅助，适合特定应用内的标准化、重复性操作。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90488" y="3566160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典型产品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90488" y="3794760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飞书、钉钉、WPS AI、Microsoft Copilot、Notion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六大能力层级协同驱动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构建办公智能体自主执行闭环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91440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54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系统集成与调用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读写本地文件、调用系统 API、操控浏览器与办公软件、跨应用数据流转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417320"/>
            <a:ext cx="91440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54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直接交付可用成果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文档稿、数据表、流程页等输出形态，将“辅助办公”升级为“替代执行”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4173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417320"/>
            <a:ext cx="91440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554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深度理解业务语境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行业、岗位、企业特有规则与知识，提供精准上下文服务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9718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971800"/>
            <a:ext cx="91440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持续进化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4747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基于反馈优化任务规划与执行策略，自动吸收新信息、优化交互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9718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971800"/>
            <a:ext cx="91440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108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 Skill 生态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34747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构建技能框架、训练专属技能、通过自然语言生成个人技能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9718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971800"/>
            <a:ext cx="91440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108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端到端安全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34747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本地敏感数据不上云、端云加密传输、权限与日志审计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从卖工具到卖结果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办公智能体的价值交付革命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874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1600200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用户购买的是“持续进化的能力”，费用与智能体完成任务的质量挂钩。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4747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普通用户、中小企业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417320"/>
            <a:ext cx="1874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60020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60320" y="22402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用量计费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51760" y="26060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调用量优先模型完成指令，用户感知付费单元为“任务/额度”而非 Token。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34747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个人开发者等深度用户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417320"/>
            <a:ext cx="1874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0" y="160020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17720" y="22402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Skill/插件付费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09160" y="26060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Skill 订阅或调用次数计费，Skill 生态丰富度构成核心壁垒。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34747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长尾/垂直场景用户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0" y="1417320"/>
            <a:ext cx="1874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60920" y="1600200"/>
            <a:ext cx="502920" cy="50292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4" name="Text 22"/>
          <p:cNvSpPr/>
          <p:nvPr/>
        </p:nvSpPr>
        <p:spPr>
          <a:xfrm>
            <a:off x="73609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75120" y="22402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66560" y="26060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政企客户对数据安全、合规审计的强需求驱动，国产大模型在私有化场景更具成本优势。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34747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大型政企客户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价值交换逻辑变化：从功能权限付费 → 为节省的时间与获得的成果付费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中国办公智能体产业生态图谱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多元玩家共同塑造市场格局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46304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48840" y="14173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原生：Manus、Cursor、Claude Code、Codex、CodeBuddy、WorkBuddy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48840" y="167335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通用对话：豆包、Kimi、ChatGPT、Claude、Gemini、Grok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48840" y="192938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办公嵌入：飞书、钉钉、WPS AI、Copilot、Notion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463040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688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基础设施与工具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48840" y="24688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开源框架：OpenClaw、Hermes Agent、CrewClaw、PicoClaw、ZeroClaw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272491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开发工具：LangChain、AutoGen、LlamaIndex、Make、Zapier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298094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分发：扣子、腾讯元器、ModelScope、SkillHub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463040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20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基础模型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48840" y="35204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DeepSeek、智谱、MiniMax、Kimi、通义千问、豆包、腾讯混元、文心、OpenAI、Google、Anthropic、Meta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中美市场特征对比与核心挑战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不同市场土壤塑造差异化发展路径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5029200" cy="3108960"/>
        </p:xfrm>
        <a:graphic>
          <a:graphicData uri="http://schemas.openxmlformats.org/drawingml/2006/table">
            <a:tbl>
              <a:tblPr/>
              <a:tblGrid>
                <a:gridCol w="914400"/>
                <a:gridCol w="2057400"/>
                <a:gridCol w="20574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场景切入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高价值、高复杂度的垂直场景，如代码生成、法律文书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通用办公场景为主，依托庞大用户基数快速市场教育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核心用户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开发者、IT 与研发部门，愿为生产力工具支付高费用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白领群体为主，通过免费/低门槛方式快速渗透大众市场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产品策略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“单点极致”的垂直化定位，建立技术壁垒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“通用平台型”，强调一站式集成多种 Agent 能力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竞争逻辑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模型深度与专业数据壁垒，构建护城河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生态壁垒与流量分发效率，插件生态与应用场景丰富度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15000" y="1371600"/>
            <a:ext cx="29260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3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897880" y="1965960"/>
            <a:ext cx="164592" cy="16459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8" name="Text 5"/>
          <p:cNvSpPr/>
          <p:nvPr/>
        </p:nvSpPr>
        <p:spPr>
          <a:xfrm>
            <a:off x="6172200" y="18745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长期推理与执行可靠性仍不稳定，幻觉和错误累积影响复杂任务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97880" y="2743200"/>
            <a:ext cx="164592" cy="16459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0" name="Text 7"/>
          <p:cNvSpPr/>
          <p:nvPr/>
        </p:nvSpPr>
        <p:spPr>
          <a:xfrm>
            <a:off x="6172200" y="26517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平台互操作标准缺失与生态割裂，插件迁移成本高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7880" y="3520440"/>
            <a:ext cx="164592" cy="16459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2" name="Text 9"/>
          <p:cNvSpPr/>
          <p:nvPr/>
        </p:nvSpPr>
        <p:spPr>
          <a:xfrm>
            <a:off x="6172200" y="34290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高价值场景数据孤岛问题严重，深度集成成本高、接口标准化程度低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用户洞察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 · 使用习惯 · 场景渗透 · 付费与瓶颈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用户群体以职场中青年为主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社交内容平台与同事推荐是主要触达渠道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25603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3246120" y="1371600"/>
          <a:ext cx="26517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6080760" y="1371600"/>
          <a:ext cx="25603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 2"/>
          <p:cNvSpPr/>
          <p:nvPr/>
        </p:nvSpPr>
        <p:spPr>
          <a:xfrm>
            <a:off x="548640" y="43434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25-39 岁用户合计占比达 80%，构成办公智能体使用的绝对主体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效率提升是核心诉求，稳定使用习惯正在形成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但使用深度仍受限于产品实际执行能力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892040" y="1371600"/>
          <a:ext cx="18288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4892040" y="2926080"/>
          <a:ext cx="182880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 2"/>
          <p:cNvSpPr/>
          <p:nvPr/>
        </p:nvSpPr>
        <p:spPr>
          <a:xfrm>
            <a:off x="4892040" y="4343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每天使用与每周 3-4 次的高频使用者合计超过七成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主流应用场景仍以问答交互为主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深度任务渗透空间有望进一步打开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4572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57800" y="1371600"/>
            <a:ext cx="33832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94960" y="1600200"/>
            <a:ext cx="73152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4"/>
          <p:cNvSpPr/>
          <p:nvPr/>
        </p:nvSpPr>
        <p:spPr>
          <a:xfrm>
            <a:off x="557784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问答交互仍是基本盘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77840" y="18928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满足轻量级、即时性辅助需求，但本质是问答交互延伸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394960" y="2606040"/>
            <a:ext cx="73152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桌面端“原生代理”能力显现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77840" y="28986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编程辅助、电脑文件整理等场景已积累可观使用占比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94960" y="3611880"/>
            <a:ext cx="73152" cy="7315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3" name="Text 10"/>
          <p:cNvSpPr/>
          <p:nvPr/>
        </p:nvSpPr>
        <p:spPr>
          <a:xfrm>
            <a:off x="5577840" y="3611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垂直协作场景受限于工具链深度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577840" y="39044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项目管理、客服销售等场景依赖企业存量业务系统无缝集成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用户渗透呈现“分层化”与“场景化”特征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桌面端是深度执行主阵地，浏览器满足轻量即时需求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2651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3337560" y="1371600"/>
          <a:ext cx="2651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6172200" y="1371600"/>
          <a:ext cx="24231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 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选择因素与付费转化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安全可信、系统兼容、执行能力是关键考量；付费意愿基础已形成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206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用户选择办公智能体的关键考量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数据安全是首要门槛，系统兼容决定落地可行性，自主执行是价值核心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31343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任务完成质量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478024"/>
            <a:ext cx="2743200" cy="10972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78024"/>
            <a:ext cx="2606040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8775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自主执行能力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752344"/>
            <a:ext cx="2743200" cy="10972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752344"/>
            <a:ext cx="2468880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620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响应速度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026664"/>
            <a:ext cx="2743200" cy="10972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026664"/>
            <a:ext cx="2249424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363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数据安全与隐私保护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300984"/>
            <a:ext cx="2743200" cy="10972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300984"/>
            <a:ext cx="2139696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4107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功能覆盖度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575304"/>
            <a:ext cx="2743200" cy="10972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575304"/>
            <a:ext cx="1920240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8503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学习成本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3849624"/>
            <a:ext cx="2743200" cy="10972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3849624"/>
            <a:ext cx="1700784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95935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工具/系统兼容性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4123944"/>
            <a:ext cx="2743200" cy="10972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123944"/>
            <a:ext cx="1508760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2336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性价比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" y="4398264"/>
            <a:ext cx="2743200" cy="10972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4398264"/>
            <a:ext cx="1371600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Shape 29"/>
          <p:cNvSpPr/>
          <p:nvPr/>
        </p:nvSpPr>
        <p:spPr>
          <a:xfrm>
            <a:off x="4892040" y="1371600"/>
            <a:ext cx="3749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0" y="1508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付费情况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已付费使用 36%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使用免费版 59%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2514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正在试用体验版 5%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92040" y="3017520"/>
            <a:ext cx="3749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付费方式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0" y="3474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企业统一采购 35%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37307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订阅制 34%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0" y="39867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额度充值 24%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0" y="42428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开源产品/技术支持 5%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0" y="44988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免费版+高级功能 2%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使用瓶颈与核心洞察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需求理解偏差与产出质量不及预期是当前主要痛点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892040" y="1371600"/>
            <a:ext cx="3749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0" y="1508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74920" y="1993392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5074920" y="19933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94960" y="19202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高频习惯已建立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94960" y="22128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核心群体已建立高频使用习惯，应用场景正从基础问答向高价值工作流拓展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74920" y="2862072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5074920" y="2862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94960" y="27889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多形态并存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94960" y="30815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桌面端成为承载深度场景的关键落地形态，网页端满足轻量即时需求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74920" y="3730752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5074920" y="37307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94960" y="36576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付费基础形成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94960" y="39502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组织驱动的 B 端采购与个人订阅两条路径占比相当，未来增长取决于安全合规与不可替代性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B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桌面端爆发与未来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桌面端价值 · 爆发式增长 · 未来竞争关键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桌面端办公应用价值被进一步激活和放大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端承载的核心价值正从“操作软件交互界面”跃升为“智能体调用工具与执行任务的数字环境”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892040" y="1371600"/>
            <a:ext cx="3749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0" y="1600200"/>
            <a:ext cx="73152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4"/>
          <p:cNvSpPr/>
          <p:nvPr/>
        </p:nvSpPr>
        <p:spPr>
          <a:xfrm>
            <a:off x="5212080" y="16002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算力支撑持续性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1208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充分调用本地并协同云端算力，支撑大模型持续推理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0" y="2331720"/>
            <a:ext cx="73152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5212080" y="23317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环境完整性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12080" y="2606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依托完整桌面操作系统、开放文件系统及多窗口交互，提供深度集成执行环境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0" y="3063240"/>
            <a:ext cx="73152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0"/>
          <p:cNvSpPr/>
          <p:nvPr/>
        </p:nvSpPr>
        <p:spPr>
          <a:xfrm>
            <a:off x="5212080" y="30632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场景匹配度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212080" y="3337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代码开发、长文档、数据分析、多系统协作等任务本质上仍高度依赖 PC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0" y="3794760"/>
            <a:ext cx="73152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3"/>
          <p:cNvSpPr/>
          <p:nvPr/>
        </p:nvSpPr>
        <p:spPr>
          <a:xfrm>
            <a:off x="5212080" y="37947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企业生态集成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212080" y="4069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与企业核心业务系统深度集成，实现自动化流程流转与统一入口管理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 AI 原生办公智能体迎来爆发式增长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3 月头部产品合计月访问量突破 2000 万次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813816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市场进入规模扩张期，头部产品开始建立先发优势；大厂依托生态整合，独立厂商聚焦垂直场景深度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整体增速强劲，产品密集公测释放增长动能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3 月桌面端 AI 原生办公智能体平台月访问量环比增速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813816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密集公测直接带来用户基数自然扩容，标志着桌面端 AI 办公智能体正式迈入市场化竞争阶段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未来竞争关键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上下文感知、工作流编排、生态互联能力决定产品竞争力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2606040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813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构筑上下文引擎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准确识别用户在整个桌面环境中的逻辑链路，自动完成上下文理解与内容创作，实现人机协同“零摩擦”。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417320"/>
            <a:ext cx="260604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4813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打造自动化工作流编排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205740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将碎片化任务封装为标准化自动流，使用户习惯固化为“工作流资产”，从单点能力演进为自我循环生产力中枢。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14173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417320"/>
            <a:ext cx="2606040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14813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构建开放生态互联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205740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成为工具间的协同枢纽，通过跨系统调度本地或云端专业化能力，实现从办公工具向高效协作网络管理者的角色跃升。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易观分析 | 中国办公智能体市场洞察 | 2026.5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数据来源：易观办公智能体平台用户调研（N=500），2026年5月；公开资料整理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947672"/>
            <a:ext cx="201168" cy="20116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476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874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办公智能体正从“工具智能”跃迁为“行动智能”，能力边界向自主规划、多工具调用、图形界面操作延伸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633472"/>
            <a:ext cx="201168" cy="20116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6334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用户以效率提升为核心诉求，高频使用习惯已建立，但深度任务渗透仍受限于执行可靠性与场景集成度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319272"/>
            <a:ext cx="201168" cy="20116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3192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2461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桌面端成为承载深度执行的关键形态，2026 年 3 月头部产品月访问量突破 2000 万，增速强劲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005072"/>
            <a:ext cx="201168" cy="20116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005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931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未来竞争将围绕上下文感知、工作流编排与生态互联能力展开，安全合规与商业化路径是规模化关键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中国办公智能体市场洞察</dc:title>
  <dc:subject>基于易观分析2026年5月报告</dc:subject>
  <dc:creator>WorkBuddy</dc:creator>
  <cp:lastModifiedBy>WorkBuddy</cp:lastModifiedBy>
  <cp:revision>1</cp:revision>
  <dcterms:created xsi:type="dcterms:W3CDTF">2026-08-20T09:22:25Z</dcterms:created>
  <dcterms:modified xsi:type="dcterms:W3CDTF">2026-08-20T09:22:25Z</dcterms:modified>
</cp:coreProperties>
</file>