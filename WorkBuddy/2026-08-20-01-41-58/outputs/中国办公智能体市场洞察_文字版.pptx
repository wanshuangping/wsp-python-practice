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Analysys 易观分析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中国办公智能体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市场洞察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报告文字提取整理版 · 共 21 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数据来源：易观分析《中国办公智能体市场洞察》  |  用户调研 N=500（2026年5月）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" cy="8686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9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一、市场概览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研究界定 · 能力跃迁 · 需求升级 · 产品分类 · 六大能力 · 价值交付 · 生态图谱 · 中美对比 · 挑战演进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P1–P9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09728" cy="868680"/>
          </a:xfrm>
          <a:prstGeom prst="rect">
            <a:avLst/>
          </a:prstGeom>
          <a:solidFill>
            <a:srgbClr val="1B7F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41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二、用户洞察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· 使用习惯 · 应用场景 · 渗透分层 · 选择因素 · 付费转化 · 使用瓶颈 · 核心洞察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P10–P17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09728" cy="86868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93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三、桌面端爆发与未来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桌面端价值 · 月访问量 · 环比增速 · 未来竞争关键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P18–P21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研究界定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办公智能体研究界定与数据说明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研究界定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563624"/>
            <a:ext cx="76809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办公智能体（Workspace Agents）：以 AI 为核心，面向办公场景的任务自动化与工作流编排的智能体产品。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1343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四大特征：任务自主执行 · 办公场景适配 · 多系统集成 · 开放生态构建。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89864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用户调研数据说明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22783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量化调研 N=500（2026年5月），对象为18岁以上、近6个月使用过办公智能体者。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81304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14223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仅统计 PC 桌面端；排除 Web/插件、移动端、办公软件内嵌智能体。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72584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“月活用量”指周期内用户与 PC 端平台的互动次数。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能力跃迁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能力边界从“工具智能”向“行动智能”跃迁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年范式革命：多模态大模型在推理、规划与工具调用上突破，能力从“感知理解”向“主动执行”延伸。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三大能力增量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0370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长程推理：以 GPT、Claude、DeepSeek、Qwen 为代表，复杂任务可拆解为可执行步骤并纠错。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工具调用：精准可靠地与文件、系统、浏览器及外部 API 深度交互。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多模态理解：读懂屏幕语义、操控 GUI，使桌面级全流程自动化成为可用。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" y="3913632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31336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基准测试准确率大幅跃升，但综合能力仍低于人类基准，完全开放场景仍需人类监督兜底。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1645920"/>
                <a:gridCol w="164592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基准测试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测试内容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智能体准确率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人类基准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GAIA（通用助手）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多工具复杂任务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92.2%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OSWorld（系统）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虚拟环境真实操作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75.2%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WebArena（网络）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真实网站多步操作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78.24%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需求升级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办公智能化需求升级，智能体成重构工作方式的关键变量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价值跃迁：从“提升效率”到“填补执行缺口”，能否从“可选项”变为“必装品”的分水岭。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工具使用演变四阶段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0370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连接（模糊需求）→ 生成（内容生成）→ 调用（功能调用）→ 规划与执行（流程自动化）。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7889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企业管理者对 Agent 的预期（Microsoft 2025）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35584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构建多智能体系统适配复杂任务 42% · 训练智能体 41% · 重要业务处理 38% · 管理智能体 36%。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9410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三大结构性转变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27024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个人效率提升 → 组织级智能协作；工具堆砌 → 智能体能力激发；提高效率 → 重塑工作方式。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产品分类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办公智能体平台产品的主要分类与特征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三类产品路线：AI 原生办公智能体（任务闭环）· AI 通用对话智能体（知识获取）· 办公软件内容智能体（工作流优化）。详见下表。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1122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终端应用形态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桌面端：深度调用系统 API，与本地文件、桌面应用集成。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52344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浏览器端：Web/插件形态，零安装、基于云端服务。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移动端：手机/平板，即时交互，与移动应用集成。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产品类型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产品设计目标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原生办公智能体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以智能体为核心，深度系统调用与执行，自主完成端到端任务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通用对话智能体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以对话为出发点，主打能力广度与辅助创作，多场景灵活响应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办公软件内容智能体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场景化赋能，嵌入成熟办公软件，提升现有工作流效率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能力体系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六大能力层级协同驱动，构建自主执行闭环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主流平台在六个维度形成完整能力体系，实现从指令理解到结果交付的端到端自治。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六大能力层级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0370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① 系统级集成与应用：读写文件、调用系统 API、操控第三方应用。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② 直接交付可用成果：文档类 / 数据类 / 流程类三种交付形态。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③ 深度理解业务场景：接入行业知识库、岗位模板、企业知识库。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④ 持续学习进化：模型、知识、交互三方面自动优化。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105656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⑤ 开放生态：技能市场，支持开发者与企业扩展能力。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⑥ 可控安全策略：本地存储、权限管理、审计追踪，确保合规。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价值交付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从卖工具到卖结果，办公智能体的价值交付革命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付费逻辑转向：用户为节省的时间与获得的成果付费，而非为功能入口预付。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四大定价模式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03704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订阅制：购买“持续优化的能力”，与任务质量挂钩。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Token 用量计费：按消耗量计费，灵活组合。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Skill/插件付费：为特定技能单独付费或订阅，生态丰富度成差异化变量。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35584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私有化部署：面向政企，一次性授权 + 持续维护，国产模型具成本优势。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47472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典型用户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售卖方式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订阅制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普通用户、中小企业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按使用深度分级付费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用量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深度个人开发者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直接付模型 API 或 token 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Skill/插件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长尾/垂直场景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技能商城单独付费或订阅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私有化部署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大型政企客户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本地/私有云完整部署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产业生态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中国办公智能体产业生态图谱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三类产品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5636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AI 原生办公智能体：Manus、Cursor、Codex、WorkBuddy、扣子、Trae 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93976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AI 通用对话智能体：豆包、千问、DeepSeek、ChatGPT、Gemini、Claude 等。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办公软件内容智能体：飞书、钉钉、WPS AI、Copilot、Notion 等。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20954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三大支撑层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53872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开源智能体框架：OpenClaw、Hermes、PicoClaw、WorkAny 等。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智能体工具与平台：LangChain、AutoGen、LlamaIndex、Zapier 等。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59943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基础模型：DeepSeek、智谱、Qwen、混元、OpenAI、Anthropic 等。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中美对比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中美市场办公智能体特征对比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发展路径由市场土壤、用户习惯与技术生态共同塑造：美国以代码开发切入、强模型驱动垂直专业化；中国以通用办公为主、生态融合快速规模化。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场景切入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高价值垂直（代码/法务/分析）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最大众通用办公场景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核心用户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强技术背景开发者、企业IT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庞大白领群体，免费渗透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产品策略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单点极致、垂直化壁垒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通用平台型、一站式集成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竞争逻辑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模型深度与专业数据壁垒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生态壁垒与流量分发效率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挑战演进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办公智能体发展的核心挑战与演进方向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5636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长程推理与执行可靠性不稳定，多工具协同稳定性是主要 gap。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93976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平台互操作性缺失、生态割裂，形成“生态锁定”。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高价值场景（财务/供应链/HR）数据孤岛，难触达核心价值链。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99008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319272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能力筑基与场景验证：提升单点任务完成率与质量。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可靠性与服务交付提升：工具调用从预设工作流向动态规划演进。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成为工作流基础设施：或出现“AI 时代的安卓系统”，基础平台免费、垂直服务盈利。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用户以职场中青年为主，社媒是主要触达渠道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25–39 岁用户合计占 80%，为绝对主体；职业以企业白领、IT 开发、产品设计为主。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“公司统一要求”占 15%，反映企业侧从观望转向主动推进，组织驱动增长使用更固定。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2560320"/>
                <a:gridCol w="109728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年龄分布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职业分布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18–24 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企业白领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25–29 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 开发与运维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30–39 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产品经理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岁+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内容创作者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 / 教师 / 管理者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10/4/2%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使用习惯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用户以效率为核心诉求，形成稳定使用习惯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效率工具属性压倒一切：“工作提效”与“减少重复性任务”居前两位。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桌面端近三成使用率已具规模，天然适合多步骤、文件批量处理等深度系统交互。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" y="257860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每天使用 + 每周 3–4 次的高频使用者合计超七成，易形成使用惯性。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2468880"/>
                <a:gridCol w="10058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使用目的 Top3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使用方式 Top3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工作提效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网页端直接使用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减少重复性任务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桌面端独立使用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获取专业知识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办公软件插件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激发灵感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自行部署框架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高频频率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每天29%+周3-4次46%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主流场景仍以问答交互为主，深度任务空间待打开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三类场景特征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5636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问答交互基本盘：信息检索、方案策划、文档处理（边界清晰、反馈短）。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93976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桌面端原生代理：编程辅助、文件整理已具规模，从“回答”拓展到“执行”。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垂直协作待爆发：项目管理、客服销售渗透低，依赖业务系统深度集成。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2651760"/>
                <a:gridCol w="9144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信息检索与问答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编程辅助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方案策划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电脑文件管理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文档处理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项目管理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工作流/任务自动化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内容生成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客服/销售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渗透分层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智能体用户渗透呈现“分层化”与“场景化”特征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三类阵地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5636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桌面端：重度用户主阵地，深度执行驱动多元格局（腾讯系占整体优势）。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93976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网页端：满足轻量即时需求，字节系 Coze 凭低门槛主导。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开源框架：以技术浪潮构建生态共识，OpenClaw 是本轮 Agent 起点。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2651760"/>
                <a:gridCol w="9144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桌面端渗透率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网页端渗透率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KimiClaw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悟空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MaxiClaw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ArisClaw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OpenClaw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DuClaw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选择因素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安全可信、系统兼容、执行能力是关键考量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“数据安全与隐私保护”“工具/系统兼容性”“自主执行能力”重要性居前三位。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三大核心决策框架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0370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数据安全是首要门槛：反映“将工作交给 Agent”的安全边界意识，直接影响企业采纳。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系统兼容决定落地：取决于能否与存量生产力工具有效衔接。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自主执行是价值核心：用户希望智能体自主拆解、调用工具、执行多步操作。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" y="3694176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1188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其余考量（按重要性）：任务完成质量 · 响应速度 · 功能覆盖度 · 学习成本 · 性价比。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付费转化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用户付费转化尚处早期，但付费意愿基础已形成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已付费 36% / 免费 59% / 试用 5%；已付费中企业采购与订阅制主导。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未付费用户多数持开放态度，Freemium（基础免费+高级解锁）最受青睐。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" y="257860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付费率提升关键：①深度场景建立不可替代性；②定价匹配价格敏感度。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2560320"/>
                <a:gridCol w="10058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付费状态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月度付费金额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已付费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100–500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使用免费版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500–1000 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正在试用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企业统一支付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付费意愿:可接受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愿意付费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继续免费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停止使用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使用瓶颈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需求理解偏差与产出质量不及预期是主要瓶颈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46% 与 42% 的用户将“需求理解偏差”与“产出质量不及预期”视为主要痛点。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性能落差：约三成用户认为响应速度、长文本/大文件处理能力不足。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" y="257860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自主执行仍薄弱：缺乏自我纠错与进度可视化，影响深度使用与信任建立。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18288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使用中存在的主要问题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需求理解偏差，需反复沟通澄清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产出质量不及预期，需大量返工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响应速度慢，等待时间过长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长文本/大文件处理受限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数据隐私与安全担忧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任务执行中断，无法自动完成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办公智能体用户调研核心洞察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60604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80160"/>
            <a:ext cx="2606040" cy="457200"/>
          </a:xfrm>
          <a:prstGeom prst="rect">
            <a:avLst/>
          </a:prstGeom>
          <a:solidFill>
            <a:srgbClr val="1B7FA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350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33502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核心群体已建立高频习惯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1847088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25–39 岁白领、开发者占超八成，高频使用者超七成；当前仍以轻量问答为主，对“多工具协同”与“直接交付结果”的期待正拉动能力演进。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280160"/>
            <a:ext cx="260604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280160"/>
            <a:ext cx="2606040" cy="457200"/>
          </a:xfrm>
          <a:prstGeom prst="rect">
            <a:avLst/>
          </a:prstGeom>
          <a:solidFill>
            <a:srgbClr val="1B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3350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13048" y="133502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桌面端成关键落地形态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01568" y="1847088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网页端渗透占一半，零安装易上手；用户高度看重系统兼容与自主执行，桌面端更靠近本地文件与工具链，承载多步骤与本地集成。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0176" y="1280160"/>
            <a:ext cx="260604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0176" y="1280160"/>
            <a:ext cx="2606040" cy="457200"/>
          </a:xfrm>
          <a:prstGeom prst="rect">
            <a:avLst/>
          </a:prstGeom>
          <a:solidFill>
            <a:srgbClr val="1B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6071616" y="13350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133502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付费意愿基础已初步形成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17336" y="1847088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付费转化早期但意愿形成，B 端采购撬动规模化；C 端偏好 Freemium，以免费版建习惯、深度场景引导增量付费。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桌面端价值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桌面端的办公应用价值被 Agent 进一步激活放大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端价值重构：从软件交互界面跃升为智能体执行任务的数字环境。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四大支撑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03704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算力：本地+云端算力支撑持续推理与复杂计算。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环境：完整 OS、开放文件系统、多窗口深度集成。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场景：代码、长文档、分析、多系统协作依赖 PC。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76809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企业集成：与核心业务系统深度集成，统一入口。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" y="3566160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3864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渗透率领先，前六款产品合计覆盖超六成用户首选。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18288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最常使用的桌面端产品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Cursor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悟空 / Codex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 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QoderWork / LobsterAI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 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桌面端爆发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AI 原生办公智能体应用迎来爆发式增长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3 月头部产品合计月访问量突破 2000 万次，市场进入规模扩张期。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 WorkBuddy 月访问量 885 万居第一；Trae.cn、QClaw、QoderWork 处第一梯队。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" y="257860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7818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大厂效应显现：WorkBuddy（腾讯）、Trae.cn（字节）、QClaw（腾讯）、QoderWork（阿里）均超 200 万。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18288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产品（2026年3月）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月访问量(万)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Trae.cn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QoderWork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AutoClaw / Core.cn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 / 72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悟空 / LobsterAI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 / 47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环比增速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整体增速强劲，产品密集公测释放增长动能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29844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1615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 TOP5 产品月度环比增速普遍超 100%；WorkBuddy 以 831% 领跑。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193852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腾讯系增长势能率先显现：QClaw 123%、CodeBuddy 360%，战略投入与快速迭代形成正向循环。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" y="2578608"/>
            <a:ext cx="73152" cy="73152"/>
          </a:xfrm>
          <a:prstGeom prst="ellipse">
            <a:avLst/>
          </a:prstGeom>
          <a:solidFill>
            <a:srgbClr val="16A2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7818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密集公测后正式迈入市场化竞争，后续考验真实留存与活跃度。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47872"/>
          <a:ext cx="804672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18288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产品（2026年3月环比）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EasyClaw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CodeBuddy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QClaw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123%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QoderWork / Trae.cn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 / 76%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LobsterAI / MiniMax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68% / 22%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2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未来关键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5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上下文感知、工作流编排、生态互联决定未来竞争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48326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上下文感知引擎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5636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构筑工作语境下的全域感知，读取当前文件、关联参考网页与历史操作，实现人机协同意图“零摩擦”。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自动化工作流编排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4780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将碎片化任务封装为标准自动流，固化用户工作习惯为“工作流资产”，结构性重塑办公路径。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开放协作生态互联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392424"/>
            <a:ext cx="76809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  成为各类生产力软件之间的协同枢纽，串联分散数字工作空间，占据组织内生产力调度中心入口。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中国办公智能体市场洞察（文字整理版）</dc:title>
  <dc:subject>PptxGenJS Presentation</dc:subject>
  <dc:creator>WorkBuddy</dc:creator>
  <cp:lastModifiedBy>WorkBuddy</cp:lastModifiedBy>
  <cp:revision>1</cp:revision>
  <dcterms:created xsi:type="dcterms:W3CDTF">2026-08-20T10:16:04Z</dcterms:created>
  <dcterms:modified xsi:type="dcterms:W3CDTF">2026-08-20T10:16:04Z</dcterms:modified>
</cp:coreProperties>
</file>